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pherson, Michael R (mrm6k)" userId="80fd3fe8-5bc0-41c7-8a54-48248735eaaf" providerId="ADAL" clId="{EBAE32C6-92E5-4BF3-AD7A-71E04F3388BF}"/>
    <pc:docChg chg="addSld modSld">
      <pc:chgData name="Mcpherson, Michael R (mrm6k)" userId="80fd3fe8-5bc0-41c7-8a54-48248735eaaf" providerId="ADAL" clId="{EBAE32C6-92E5-4BF3-AD7A-71E04F3388BF}" dt="2026-09-25T14:59:28.793" v="875" actId="20577"/>
      <pc:docMkLst>
        <pc:docMk/>
      </pc:docMkLst>
      <pc:sldChg chg="modSp new mod">
        <pc:chgData name="Mcpherson, Michael R (mrm6k)" userId="80fd3fe8-5bc0-41c7-8a54-48248735eaaf" providerId="ADAL" clId="{EBAE32C6-92E5-4BF3-AD7A-71E04F3388BF}" dt="2026-09-25T14:59:28.793" v="875" actId="20577"/>
        <pc:sldMkLst>
          <pc:docMk/>
          <pc:sldMk cId="938425682" sldId="258"/>
        </pc:sldMkLst>
        <pc:spChg chg="mod">
          <ac:chgData name="Mcpherson, Michael R (mrm6k)" userId="80fd3fe8-5bc0-41c7-8a54-48248735eaaf" providerId="ADAL" clId="{EBAE32C6-92E5-4BF3-AD7A-71E04F3388BF}" dt="2026-09-25T14:34:00.316" v="15" actId="20577"/>
          <ac:spMkLst>
            <pc:docMk/>
            <pc:sldMk cId="938425682" sldId="258"/>
            <ac:spMk id="2" creationId="{73219854-A88E-63CB-F452-4DE5DA44F06E}"/>
          </ac:spMkLst>
        </pc:spChg>
        <pc:spChg chg="mod">
          <ac:chgData name="Mcpherson, Michael R (mrm6k)" userId="80fd3fe8-5bc0-41c7-8a54-48248735eaaf" providerId="ADAL" clId="{EBAE32C6-92E5-4BF3-AD7A-71E04F3388BF}" dt="2026-09-25T14:59:28.793" v="875" actId="20577"/>
          <ac:spMkLst>
            <pc:docMk/>
            <pc:sldMk cId="938425682" sldId="258"/>
            <ac:spMk id="3" creationId="{F5ECA630-4259-6690-3C0B-C06442050F0A}"/>
          </ac:spMkLst>
        </pc:spChg>
      </pc:sldChg>
      <pc:sldChg chg="modSp new mod">
        <pc:chgData name="Mcpherson, Michael R (mrm6k)" userId="80fd3fe8-5bc0-41c7-8a54-48248735eaaf" providerId="ADAL" clId="{EBAE32C6-92E5-4BF3-AD7A-71E04F3388BF}" dt="2026-09-25T14:53:48.408" v="360" actId="14"/>
        <pc:sldMkLst>
          <pc:docMk/>
          <pc:sldMk cId="3942737936" sldId="259"/>
        </pc:sldMkLst>
        <pc:spChg chg="mod">
          <ac:chgData name="Mcpherson, Michael R (mrm6k)" userId="80fd3fe8-5bc0-41c7-8a54-48248735eaaf" providerId="ADAL" clId="{EBAE32C6-92E5-4BF3-AD7A-71E04F3388BF}" dt="2026-09-25T14:39:38.598" v="26" actId="20577"/>
          <ac:spMkLst>
            <pc:docMk/>
            <pc:sldMk cId="3942737936" sldId="259"/>
            <ac:spMk id="2" creationId="{E5F20361-95E3-1D2E-FB50-06E8C3DF8608}"/>
          </ac:spMkLst>
        </pc:spChg>
        <pc:spChg chg="mod">
          <ac:chgData name="Mcpherson, Michael R (mrm6k)" userId="80fd3fe8-5bc0-41c7-8a54-48248735eaaf" providerId="ADAL" clId="{EBAE32C6-92E5-4BF3-AD7A-71E04F3388BF}" dt="2026-09-25T14:53:48.408" v="360" actId="14"/>
          <ac:spMkLst>
            <pc:docMk/>
            <pc:sldMk cId="3942737936" sldId="259"/>
            <ac:spMk id="3" creationId="{D8E82AA0-5BF8-A9BF-199D-84F9BAD9C4E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CCAE-DAA8-DE81-021A-06E1036BF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5AAAE-774C-DE5C-CE43-9A7D674AA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88C06-9102-2227-7A3B-9295E7C3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CB43B-2939-B135-6347-37051F38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36D2-2C06-2273-3D6A-07377472B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4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610A5-3659-CEB8-C592-1FC1A93B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CFF66-683E-69A7-29E5-A7610B74A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62291-485B-31AC-E09D-33801437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49870-A4AF-FF33-84B0-E0A5E8B1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E4A9-41C6-B3B3-4499-285A6C01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30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C5B24-CAC8-AE0C-76AB-6F0BB169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5FCBF-12C5-4ED2-1BB5-154C0D32B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723BC-4CDD-4700-73D3-7AB6FC4D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2F832-A125-7D30-D66B-DC6064A8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8FEE9-401A-140F-FEEC-EAE68E87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44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66C61-EAA0-5CFC-E6E6-E9B95B2B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8FA03-EDCD-A13C-D60C-FDD604228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543F5-A58D-DA21-2A26-A51D4BC00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AC26A-3B6A-CC46-28AD-BDE0F260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0417-8079-5E86-AE27-4CB55A1E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CCD83-A4F7-CEBC-2737-389B0A6E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70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C1F5-49D9-0B0E-C94B-FDC8395B7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494BC-53F9-64A3-174D-3B33A335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EF14C-E015-8E0A-814D-2FA234D93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EA813-8388-06A3-EF6F-B11E42DDF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BE956-AB78-8F39-220A-CF17F493C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812DE4-4AB1-DFA3-62EA-1F964B86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110A1-2A17-820B-3EEF-9D41668CC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4F9ED-3CCC-FB8F-5B15-4AC5AA3FA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0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E3A2-0326-94FC-163D-D7C9E529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6C4A6-492B-515F-DB69-E0AAE4BCF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7C6081-3B96-E974-7B3D-43FAC01C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66096-31D2-F229-5BB7-BD29C9E5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5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0ECB49-4D30-7D15-0679-0884B8BF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96E5C-F1FD-6804-17D2-7F04F26D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12F28-9B1F-518E-6ED6-A683A92D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3C86-33A1-4A1D-4FF6-1278389D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11503-C5B2-EBBE-516B-C8B4C7F28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5E906-6EC6-57A2-83FC-C1923E8C3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ED560-EB98-D53A-C7D6-97A6E4E3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5BF8B-47C2-ED8E-51BB-EC30A622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2F80C-9493-DB19-3325-1094F1AF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0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059B-9B1E-EF15-19C6-6407FD2F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8BAAE-F1BA-BAE6-DB18-BB0E7769C9B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4E5C8-A139-E9A4-1834-507732A7D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D3C85-2F2D-D95A-44DD-4AD04296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841FF-6370-41D9-5B71-42492BB4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3A3ED-CC37-1BE6-4320-65D50C62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4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BF7E-95AC-A746-6E8F-0C61CF91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7C08E-58E0-5028-FE34-FD042B88C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672C7-AE71-9DCD-6A9A-8334A034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9DAC6-F0B7-E9A2-EBBB-9DCE1665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D9283-2078-23B2-85EA-B97AB9C5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1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C558E-479C-9F10-5C69-2C76D9C95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A2A39-0F58-8057-F64B-858AA7224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7462C-3F31-14D7-D409-E878DBAD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F9696-B9F3-2982-4AAC-E227483D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D8C8B-C132-FC80-625F-E21EE96D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74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7E36F-6BF3-B97F-3ECA-2A8108B2B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A44CF-26B6-6EEE-038F-B0E1727E1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8E0B7-1BBC-04A6-AA1E-C56C43C53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5AE2B-7452-41D8-9833-A0E8CCB80AD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8AA2-9247-5299-7136-F09269AED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5BFED-24BF-702E-1AA0-BDCE27044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892DD-16C2-44ED-8EFD-9B98A14E6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9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7F17A9-E9F3-E2A0-001D-2F56494C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the project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5124AE-35EC-7990-46BA-309BD8AD2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core functions to be provided by the project?</a:t>
            </a:r>
          </a:p>
          <a:p>
            <a:pPr lvl="1"/>
            <a:r>
              <a:rPr lang="en-US" dirty="0"/>
              <a:t>Processing, power switching, data acquisition, communications, etc.</a:t>
            </a:r>
          </a:p>
          <a:p>
            <a:r>
              <a:rPr lang="en-US" dirty="0"/>
              <a:t>What ancillary functions are required to support the core functions?</a:t>
            </a:r>
          </a:p>
          <a:p>
            <a:pPr lvl="1"/>
            <a:r>
              <a:rPr lang="en-US" dirty="0"/>
              <a:t>Power conversion and conditioning, timing, off-board connections, etc.</a:t>
            </a:r>
          </a:p>
          <a:p>
            <a:r>
              <a:rPr lang="en-US" dirty="0"/>
              <a:t>What EMC issues are predictable?</a:t>
            </a:r>
          </a:p>
          <a:p>
            <a:pPr lvl="1"/>
            <a:r>
              <a:rPr lang="en-US" dirty="0"/>
              <a:t>Noisy switching power supplies, noise from MCUs and clocks, RF from transmitters</a:t>
            </a:r>
          </a:p>
          <a:p>
            <a:r>
              <a:rPr lang="en-US" dirty="0"/>
              <a:t>What are the budget constraints?</a:t>
            </a:r>
          </a:p>
          <a:p>
            <a:pPr lvl="1"/>
            <a:r>
              <a:rPr lang="en-US" dirty="0"/>
              <a:t>Are there off-the-shelf solutions that are more cost-effective?</a:t>
            </a:r>
          </a:p>
        </p:txBody>
      </p:sp>
    </p:spTree>
    <p:extLst>
      <p:ext uri="{BB962C8B-B14F-4D97-AF65-F5344CB8AC3E}">
        <p14:creationId xmlns:p14="http://schemas.microsoft.com/office/powerpoint/2010/main" val="2561500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CEA6-9B02-ACF4-383E-0E592A7C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4D003-1BD6-DC63-FAC7-4B3AF10C2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Flight heritage </a:t>
            </a:r>
            <a:r>
              <a:rPr lang="en-US"/>
              <a:t>is valuable </a:t>
            </a:r>
            <a:r>
              <a:rPr lang="en-US" dirty="0"/>
              <a:t>but should be balanced by actual conditions and requirements.</a:t>
            </a:r>
          </a:p>
          <a:p>
            <a:pPr lvl="1"/>
            <a:r>
              <a:rPr lang="en-US" dirty="0"/>
              <a:t>A HAB mission, for example, is short-duration, so components are less likely to fail even under harsh conditions.</a:t>
            </a:r>
          </a:p>
          <a:p>
            <a:r>
              <a:rPr lang="en-US" dirty="0"/>
              <a:t>Choose common, mainstream components when possible.</a:t>
            </a:r>
          </a:p>
          <a:p>
            <a:pPr lvl="1"/>
            <a:r>
              <a:rPr lang="en-US" dirty="0"/>
              <a:t>Widely-used components will have extensive resources and examples available.</a:t>
            </a:r>
          </a:p>
          <a:p>
            <a:pPr lvl="1"/>
            <a:r>
              <a:rPr lang="en-US" dirty="0"/>
              <a:t>Availability is likely to be much better and costs lower.</a:t>
            </a:r>
          </a:p>
          <a:p>
            <a:r>
              <a:rPr lang="en-US" dirty="0"/>
              <a:t>Start with the most complex components (MCU/MPU, FPGA, etc.) and work outward from there.</a:t>
            </a:r>
          </a:p>
          <a:p>
            <a:pPr lvl="1"/>
            <a:r>
              <a:rPr lang="en-US" dirty="0"/>
              <a:t>Most of the components on the board will be support for these complex ICs.</a:t>
            </a:r>
          </a:p>
        </p:txBody>
      </p:sp>
    </p:spTree>
    <p:extLst>
      <p:ext uri="{BB962C8B-B14F-4D97-AF65-F5344CB8AC3E}">
        <p14:creationId xmlns:p14="http://schemas.microsoft.com/office/powerpoint/2010/main" val="2354212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9854-A88E-63CB-F452-4DE5DA44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entry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CA630-4259-6690-3C0B-C0644205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complex components will have manufacturer-developed reference implementations.  </a:t>
            </a:r>
          </a:p>
          <a:p>
            <a:pPr lvl="1"/>
            <a:r>
              <a:rPr lang="en-US" dirty="0"/>
              <a:t>These are schematics and PCB layouts designed to maximize the chance of a final project that works well.  </a:t>
            </a:r>
          </a:p>
          <a:p>
            <a:pPr lvl="1"/>
            <a:r>
              <a:rPr lang="en-US" dirty="0"/>
              <a:t>Take advantage of the reference implementation unless you have a very good reason to diverge.</a:t>
            </a:r>
          </a:p>
          <a:p>
            <a:r>
              <a:rPr lang="en-US" dirty="0"/>
              <a:t>Most integrated circuit datasheets will include example circuits.  Example PCB layouts will be included for components with special requirements (switching power converters, </a:t>
            </a:r>
            <a:r>
              <a:rPr lang="en-US"/>
              <a:t>for example).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42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0361-95E3-1D2E-FB50-06E8C3DF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82AA0-5BF8-A9BF-199D-84F9BAD9C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cubesats</a:t>
            </a:r>
            <a:r>
              <a:rPr lang="en-US" dirty="0"/>
              <a:t>, start with standard </a:t>
            </a:r>
            <a:r>
              <a:rPr lang="en-US" dirty="0" err="1"/>
              <a:t>cubesat</a:t>
            </a:r>
            <a:r>
              <a:rPr lang="en-US" dirty="0"/>
              <a:t> PCB template</a:t>
            </a:r>
          </a:p>
          <a:p>
            <a:r>
              <a:rPr lang="en-US" dirty="0"/>
              <a:t>Choose number of copper layers in the PCB</a:t>
            </a:r>
          </a:p>
          <a:p>
            <a:pPr lvl="1"/>
            <a:r>
              <a:rPr lang="en-US" dirty="0"/>
              <a:t>Four layers should be considered standard, as it provides lots of trace routing flexibility and large areas of copper for shielding and thermal management.</a:t>
            </a:r>
          </a:p>
          <a:p>
            <a:pPr lvl="1"/>
            <a:r>
              <a:rPr lang="en-US" dirty="0"/>
              <a:t>Two layers can be used for very simple PCBs.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37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317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Planning the project</vt:lpstr>
      <vt:lpstr>Component selection</vt:lpstr>
      <vt:lpstr>Schematic entry</vt:lpstr>
      <vt:lpstr>PCB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Mcpherson, Michael R (mrm6k)</dc:creator>
  <cp:lastModifiedBy>Mcpherson, Michael R (mrm6k)</cp:lastModifiedBy>
  <cp:revision>2</cp:revision>
  <dcterms:created xsi:type="dcterms:W3CDTF">2026-09-25T14:15:52Z</dcterms:created>
  <dcterms:modified xsi:type="dcterms:W3CDTF">2026-09-25T14:59:36Z</dcterms:modified>
</cp:coreProperties>
</file>